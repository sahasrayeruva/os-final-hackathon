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3" Type="http://schemas.openxmlformats.org/officeDocument/2006/relationships/tableStyles" Target="tableStyles.xml"/><Relationship Id="rId12" Type="http://schemas.openxmlformats.org/officeDocument/2006/relationships/viewProps" Target="viewProps.xml"/><Relationship Id="rId11" Type="http://schemas.openxmlformats.org/officeDocument/2006/relationships/presProps" Target="presProps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yourself and the project: a terminal-based chat application in C where two processes talk through Linux named pipes (FIFOs). It runs on Ubuntu under WSL and was built in VS Code. Fill in your name and college on this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problem is simple: show how two independent processes can talk to each other. The five objectives map directly to the five features: fork(), FIFOs, timestamped history, the history viewer, and a safe exit with /exit.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 through each item: C for system programming, Ubuntu on WSL as the runtime, GCC to compile, fork() to create a child process, mkfifo() to create named pipes, file handling for chat_history.txt, and timestamps so each saved message records when it was sent.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the diagram. User A types in the terminal; Process A's parent sends the message through FIFO A-to-B, and Process B's child receives it and shows it on User B's terminal. The reverse path uses FIFO B-to-A. After the program calls fork(), the parent handles sending while the child handles receiving, so both directions work at once. Messages are appended with timestamps to chat_history.txt using history.h. history_viewer.c is a separate program that only reads the saved file.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the six steps in order. The snippets are simplified illustrations of the system calls involved (mkfifo, fork, write, fopen/fprintf), not the full project code. Replace them with the exact lines from your own source if you prefer. Typing /exit ends the conversation.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terminal windows are example mockups so the layout is clear; they are not real execution output. Replace them with real screenshots from your WSL terminal: User A and User B exchanging messages, and the output of history_viewer. State only the tests you actually ran: message transmission, history recording, history viewer, and /exit.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Summarize: a working terminal IPC chat using fork(), FIFOs and file handling. The future scope items (multi-user chat, better error handling, a GUI) are ideas only and are not part of the current project. End with Thank You and invite questions.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IN">
    <p:bg>
      <p:bgPr>
        <a:solidFill>
          <a:srgbClr val="0A11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3DDC84"/>
          </a:solidFill>
        </p:spPr>
      </p:sp>
      <p:sp>
        <p:nvSpPr>
          <p:cNvPr id="3" name="Text 1"/>
          <p:cNvSpPr/>
          <p:nvPr>
            <p:ph type="title" idx="101" hasCustomPrompt="1"/>
          </p:nvPr>
        </p:nvSpPr>
        <p:spPr>
          <a:xfrm>
            <a:off x="411480" y="228600"/>
            <a:ext cx="6035040" cy="548640"/>
          </a:xfrm>
          <a:prstGeom prst="rect">
            <a:avLst/>
          </a:prstGeom>
          <a:noFill/>
        </p:spPr>
        <p:txBody>
          <a:bodyPr wrap="square" rtlCol="0"/>
          <a:lstStyle>
            <a:lvl1pPr marL="0" indent="0" algn="l">
              <a:buNone/>
              <a:defRPr lang="en-US" sz="2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defRPr>
            </a:lvl1pPr>
          </a:lstStyle>
          <a:p>
            <a:pPr marL="0" indent="0" algn="l">
              <a:buNone/>
            </a:pP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28600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rgbClr val="8FA3C7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rgbClr val="0508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3DDC84"/>
          </a:solidFill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4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28600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rgbClr val="8FA3C7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3.xml"/><Relationship Id="rId2" Type="http://schemas.openxmlformats.org/officeDocument/2006/relationships/image" Target="../media/image2.jpe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4.x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5.png"/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226810" y="27432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3DDC8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$ ./chat --ipc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234440"/>
            <a:ext cx="7498080" cy="1371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Inter-Process Chat Application Using IPC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640080" y="2743200"/>
            <a:ext cx="1097280" cy="45720"/>
          </a:xfrm>
          <a:prstGeom prst="rect">
            <a:avLst/>
          </a:prstGeom>
          <a:solidFill>
            <a:srgbClr val="2F7BFF"/>
          </a:solidFill>
        </p:spPr>
      </p:sp>
      <p:sp>
        <p:nvSpPr>
          <p:cNvPr id="5" name="Text 3"/>
          <p:cNvSpPr txBox="1"/>
          <p:nvPr/>
        </p:nvSpPr>
        <p:spPr>
          <a:xfrm>
            <a:off x="640080" y="2971800"/>
            <a:ext cx="5532120" cy="204216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600" dirty="0"/>
              <a:t>Mahathi 2520080030</a:t>
            </a:r>
            <a:endParaRPr lang="en-US" sz="16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600" dirty="0"/>
              <a:t>Sahasra 2520080062</a:t>
            </a:r>
            <a:endParaRPr lang="en-US" sz="1600" dirty="0"/>
          </a:p>
          <a:p>
            <a:pPr marL="0" indent="0">
              <a:spcAft>
                <a:spcPts val="400"/>
              </a:spcAft>
              <a:buNone/>
            </a:pPr>
            <a:r>
              <a:rPr lang="en-US" altLang="en-US" sz="1600" dirty="0"/>
              <a:t>S. Rishitha Reddy</a:t>
            </a:r>
            <a:r>
              <a:rPr lang="en-US" sz="1600" dirty="0"/>
              <a:t> 2520090039</a:t>
            </a:r>
            <a:endParaRPr lang="en-US" altLang="en-US" sz="16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600" dirty="0">
                <a:solidFill>
                  <a:srgbClr val="9CC3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Branch: AI and DS , CS IT</a:t>
            </a:r>
            <a:endParaRPr lang="en-US" sz="16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600" dirty="0">
                <a:solidFill>
                  <a:srgbClr val="9CC3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Subject: Operating Systems  AND Systems Programming</a:t>
            </a:r>
            <a:endParaRPr lang="en-US" sz="1600" dirty="0"/>
          </a:p>
          <a:p>
            <a:pPr marL="0" indent="0">
              <a:spcAft>
                <a:spcPts val="400"/>
              </a:spcAft>
              <a:buNone/>
            </a:pPr>
            <a:endParaRPr lang="en-US" sz="16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89520" y="3291840"/>
            <a:ext cx="914400" cy="914400"/>
          </a:xfrm>
          <a:prstGeom prst="rect">
            <a:avLst/>
          </a:prstGeom>
        </p:spPr>
      </p:pic>
      <p:pic>
        <p:nvPicPr>
          <p:cNvPr id="8" name="Picture 7"/>
          <p:cNvPicPr/>
          <p:nvPr/>
        </p:nvPicPr>
        <p:blipFill>
          <a:blip r:embed="rId2"/>
          <a:stretch>
            <a:fillRect/>
          </a:stretch>
        </p:blipFill>
        <p:spPr>
          <a:xfrm>
            <a:off x="504825" y="332740"/>
            <a:ext cx="1657350" cy="9017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type="title" idx="101" hasCustomPrompt="1"/>
          </p:nvPr>
        </p:nvSpPr>
        <p:spPr>
          <a:xfrm>
            <a:off x="411480" y="228600"/>
            <a:ext cx="603504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Problem Statement and Objectives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3291840" cy="3566160"/>
          </a:xfrm>
          <a:prstGeom prst="roundRect">
            <a:avLst>
              <a:gd name="adj" fmla="val 2222"/>
            </a:avLst>
          </a:prstGeom>
          <a:solidFill>
            <a:srgbClr val="111B3A"/>
          </a:solidFill>
          <a:ln w="12700">
            <a:solidFill>
              <a:srgbClr val="1E2E5E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85800" y="1234440"/>
            <a:ext cx="2834640" cy="7315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3DDC8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Inter-Process Chat Application Using IPC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2103120"/>
            <a:ext cx="2834640" cy="23774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E8EEF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Demonstrate how two independent processes can exchange messages on a Linux system using inter-process communication.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4114800" y="1051560"/>
            <a:ext cx="4114800" cy="3657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3DDC8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Objectives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114800" y="1554480"/>
            <a:ext cx="384048" cy="384048"/>
          </a:xfrm>
          <a:prstGeom prst="ellipse">
            <a:avLst/>
          </a:prstGeom>
          <a:solidFill>
            <a:srgbClr val="2F7BFF"/>
          </a:solidFill>
        </p:spPr>
      </p:sp>
      <p:sp>
        <p:nvSpPr>
          <p:cNvPr id="8" name="Text 6"/>
          <p:cNvSpPr txBox="1"/>
          <p:nvPr/>
        </p:nvSpPr>
        <p:spPr>
          <a:xfrm>
            <a:off x="4114800" y="1554480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4663440" y="1554480"/>
            <a:ext cx="402336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E8EEF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Exchange messages using named pipes (FIFOs)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114800" y="2331720"/>
            <a:ext cx="384048" cy="384048"/>
          </a:xfrm>
          <a:prstGeom prst="ellipse">
            <a:avLst/>
          </a:prstGeom>
          <a:solidFill>
            <a:srgbClr val="2F7BFF"/>
          </a:solidFill>
        </p:spPr>
      </p:sp>
      <p:sp>
        <p:nvSpPr>
          <p:cNvPr id="11" name="Text 9"/>
          <p:cNvSpPr txBox="1"/>
          <p:nvPr/>
        </p:nvSpPr>
        <p:spPr>
          <a:xfrm>
            <a:off x="4114800" y="2331720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4663440" y="2331720"/>
            <a:ext cx="402336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E8EEF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Save messages with timestamps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4114800" y="3108960"/>
            <a:ext cx="384048" cy="384048"/>
          </a:xfrm>
          <a:prstGeom prst="ellipse">
            <a:avLst/>
          </a:prstGeom>
          <a:solidFill>
            <a:srgbClr val="2F7BFF"/>
          </a:solidFill>
        </p:spPr>
      </p:sp>
      <p:sp>
        <p:nvSpPr>
          <p:cNvPr id="14" name="Text 12"/>
          <p:cNvSpPr txBox="1"/>
          <p:nvPr/>
        </p:nvSpPr>
        <p:spPr>
          <a:xfrm>
            <a:off x="4114800" y="3108960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4663440" y="3108960"/>
            <a:ext cx="402336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E8EEF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View chat history and basic statistics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4114800" y="3886200"/>
            <a:ext cx="384048" cy="384048"/>
          </a:xfrm>
          <a:prstGeom prst="ellipse">
            <a:avLst/>
          </a:prstGeom>
          <a:solidFill>
            <a:srgbClr val="2F7BFF"/>
          </a:solidFill>
        </p:spPr>
      </p:sp>
      <p:sp>
        <p:nvSpPr>
          <p:cNvPr id="17" name="Text 15"/>
          <p:cNvSpPr txBox="1"/>
          <p:nvPr/>
        </p:nvSpPr>
        <p:spPr>
          <a:xfrm>
            <a:off x="4114800" y="3886200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4663440" y="3886200"/>
            <a:ext cx="402336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E8EEF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Terminate the conversation safely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28600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rgbClr val="8FA3C7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type="title" idx="101" hasCustomPrompt="1"/>
          </p:nvPr>
        </p:nvSpPr>
        <p:spPr>
          <a:xfrm>
            <a:off x="411480" y="228600"/>
            <a:ext cx="603504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Technologies and Concepts Used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1965960" cy="1600200"/>
          </a:xfrm>
          <a:prstGeom prst="roundRect">
            <a:avLst>
              <a:gd name="adj" fmla="val 4571"/>
            </a:avLst>
          </a:prstGeom>
          <a:solidFill>
            <a:srgbClr val="111B3A"/>
          </a:solidFill>
          <a:ln w="12700">
            <a:solidFill>
              <a:srgbClr val="1E2E5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280160"/>
            <a:ext cx="320040" cy="45720"/>
          </a:xfrm>
          <a:prstGeom prst="rect">
            <a:avLst/>
          </a:prstGeom>
          <a:solidFill>
            <a:srgbClr val="3DDC84"/>
          </a:solidFill>
        </p:spPr>
      </p:sp>
      <p:sp>
        <p:nvSpPr>
          <p:cNvPr id="5" name="Text 3"/>
          <p:cNvSpPr txBox="1"/>
          <p:nvPr/>
        </p:nvSpPr>
        <p:spPr>
          <a:xfrm>
            <a:off x="640080" y="1463040"/>
            <a:ext cx="1600200" cy="4572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 language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965960"/>
            <a:ext cx="1600200" cy="6400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8FA3C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Low-level access to system calls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560320" y="1097280"/>
            <a:ext cx="1965960" cy="1600200"/>
          </a:xfrm>
          <a:prstGeom prst="roundRect">
            <a:avLst>
              <a:gd name="adj" fmla="val 4571"/>
            </a:avLst>
          </a:prstGeom>
          <a:solidFill>
            <a:srgbClr val="111B3A"/>
          </a:solidFill>
          <a:ln w="12700">
            <a:solidFill>
              <a:srgbClr val="1E2E5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743200" y="1280160"/>
            <a:ext cx="320040" cy="45720"/>
          </a:xfrm>
          <a:prstGeom prst="rect">
            <a:avLst/>
          </a:prstGeom>
          <a:solidFill>
            <a:srgbClr val="3DDC84"/>
          </a:solidFill>
        </p:spPr>
      </p:sp>
      <p:sp>
        <p:nvSpPr>
          <p:cNvPr id="9" name="Text 7"/>
          <p:cNvSpPr txBox="1"/>
          <p:nvPr/>
        </p:nvSpPr>
        <p:spPr>
          <a:xfrm>
            <a:off x="2743200" y="1463040"/>
            <a:ext cx="1600200" cy="4572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Linux Ubuntu / WSL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2743200" y="1965960"/>
            <a:ext cx="1600200" cy="6400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8FA3C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Linux environment on Windows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663440" y="1097280"/>
            <a:ext cx="1965960" cy="1600200"/>
          </a:xfrm>
          <a:prstGeom prst="roundRect">
            <a:avLst>
              <a:gd name="adj" fmla="val 4571"/>
            </a:avLst>
          </a:prstGeom>
          <a:solidFill>
            <a:srgbClr val="111B3A"/>
          </a:solidFill>
          <a:ln w="12700">
            <a:solidFill>
              <a:srgbClr val="1E2E5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846320" y="1280160"/>
            <a:ext cx="320040" cy="45720"/>
          </a:xfrm>
          <a:prstGeom prst="rect">
            <a:avLst/>
          </a:prstGeom>
          <a:solidFill>
            <a:srgbClr val="3DDC84"/>
          </a:solidFill>
        </p:spPr>
      </p:sp>
      <p:sp>
        <p:nvSpPr>
          <p:cNvPr id="13" name="Text 11"/>
          <p:cNvSpPr txBox="1"/>
          <p:nvPr/>
        </p:nvSpPr>
        <p:spPr>
          <a:xfrm>
            <a:off x="4846320" y="1463040"/>
            <a:ext cx="1600200" cy="4572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GCC compiler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4846320" y="1965960"/>
            <a:ext cx="1600200" cy="6400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8FA3C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Compiles the C source files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766560" y="1097280"/>
            <a:ext cx="1965960" cy="1600200"/>
          </a:xfrm>
          <a:prstGeom prst="roundRect">
            <a:avLst>
              <a:gd name="adj" fmla="val 4571"/>
            </a:avLst>
          </a:prstGeom>
          <a:solidFill>
            <a:srgbClr val="111B3A"/>
          </a:solidFill>
          <a:ln w="12700">
            <a:solidFill>
              <a:srgbClr val="1E2E5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949440" y="1280160"/>
            <a:ext cx="320040" cy="45720"/>
          </a:xfrm>
          <a:prstGeom prst="rect">
            <a:avLst/>
          </a:prstGeom>
          <a:solidFill>
            <a:srgbClr val="3DDC84"/>
          </a:solidFill>
        </p:spPr>
      </p:sp>
      <p:sp>
        <p:nvSpPr>
          <p:cNvPr id="17" name="Text 15"/>
          <p:cNvSpPr txBox="1"/>
          <p:nvPr/>
        </p:nvSpPr>
        <p:spPr>
          <a:xfrm>
            <a:off x="6949440" y="1463040"/>
            <a:ext cx="1600200" cy="4572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fork()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6949440" y="1965960"/>
            <a:ext cx="1600200" cy="6400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8FA3C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Creates a child process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57200" y="2926080"/>
            <a:ext cx="2697480" cy="1600200"/>
          </a:xfrm>
          <a:prstGeom prst="roundRect">
            <a:avLst>
              <a:gd name="adj" fmla="val 4571"/>
            </a:avLst>
          </a:prstGeom>
          <a:solidFill>
            <a:srgbClr val="111B3A"/>
          </a:solidFill>
          <a:ln w="12700">
            <a:solidFill>
              <a:srgbClr val="1E2E5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40080" y="3108960"/>
            <a:ext cx="320040" cy="45720"/>
          </a:xfrm>
          <a:prstGeom prst="rect">
            <a:avLst/>
          </a:prstGeom>
          <a:solidFill>
            <a:srgbClr val="3DDC84"/>
          </a:solidFill>
        </p:spPr>
      </p:sp>
      <p:sp>
        <p:nvSpPr>
          <p:cNvPr id="21" name="Text 19"/>
          <p:cNvSpPr txBox="1"/>
          <p:nvPr/>
        </p:nvSpPr>
        <p:spPr>
          <a:xfrm>
            <a:off x="640080" y="3291840"/>
            <a:ext cx="2331720" cy="4572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mkfifo()</a:t>
            </a:r>
            <a:endParaRPr lang="en-US" sz="1700" dirty="0"/>
          </a:p>
        </p:txBody>
      </p:sp>
      <p:sp>
        <p:nvSpPr>
          <p:cNvPr id="22" name="Text 20"/>
          <p:cNvSpPr txBox="1"/>
          <p:nvPr/>
        </p:nvSpPr>
        <p:spPr>
          <a:xfrm>
            <a:off x="640080" y="3794760"/>
            <a:ext cx="2331720" cy="6400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8FA3C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Creates named pipes for messages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3291840" y="2926080"/>
            <a:ext cx="2697480" cy="1600200"/>
          </a:xfrm>
          <a:prstGeom prst="roundRect">
            <a:avLst>
              <a:gd name="adj" fmla="val 4571"/>
            </a:avLst>
          </a:prstGeom>
          <a:solidFill>
            <a:srgbClr val="111B3A"/>
          </a:solidFill>
          <a:ln w="12700">
            <a:solidFill>
              <a:srgbClr val="1E2E5E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474720" y="3108960"/>
            <a:ext cx="320040" cy="45720"/>
          </a:xfrm>
          <a:prstGeom prst="rect">
            <a:avLst/>
          </a:prstGeom>
          <a:solidFill>
            <a:srgbClr val="3DDC84"/>
          </a:solidFill>
        </p:spPr>
      </p:sp>
      <p:sp>
        <p:nvSpPr>
          <p:cNvPr id="25" name="Text 23"/>
          <p:cNvSpPr txBox="1"/>
          <p:nvPr/>
        </p:nvSpPr>
        <p:spPr>
          <a:xfrm>
            <a:off x="3474720" y="3291840"/>
            <a:ext cx="2331720" cy="4572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File handling</a:t>
            </a:r>
            <a:endParaRPr lang="en-US" sz="1700" dirty="0"/>
          </a:p>
        </p:txBody>
      </p:sp>
      <p:sp>
        <p:nvSpPr>
          <p:cNvPr id="26" name="Text 24"/>
          <p:cNvSpPr txBox="1"/>
          <p:nvPr/>
        </p:nvSpPr>
        <p:spPr>
          <a:xfrm>
            <a:off x="3474720" y="3794760"/>
            <a:ext cx="2331720" cy="6400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8FA3C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Reads/writes chat_history.txt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6126480" y="2926080"/>
            <a:ext cx="2697480" cy="1600200"/>
          </a:xfrm>
          <a:prstGeom prst="roundRect">
            <a:avLst>
              <a:gd name="adj" fmla="val 4571"/>
            </a:avLst>
          </a:prstGeom>
          <a:solidFill>
            <a:srgbClr val="111B3A"/>
          </a:solidFill>
          <a:ln w="12700">
            <a:solidFill>
              <a:srgbClr val="1E2E5E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309360" y="3108960"/>
            <a:ext cx="320040" cy="45720"/>
          </a:xfrm>
          <a:prstGeom prst="rect">
            <a:avLst/>
          </a:prstGeom>
          <a:solidFill>
            <a:srgbClr val="3DDC84"/>
          </a:solidFill>
        </p:spPr>
      </p:sp>
      <p:sp>
        <p:nvSpPr>
          <p:cNvPr id="29" name="Text 27"/>
          <p:cNvSpPr txBox="1"/>
          <p:nvPr/>
        </p:nvSpPr>
        <p:spPr>
          <a:xfrm>
            <a:off x="6309360" y="3291840"/>
            <a:ext cx="2331720" cy="4572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Timestamps &amp; history</a:t>
            </a:r>
            <a:endParaRPr lang="en-US" sz="1700" dirty="0"/>
          </a:p>
        </p:txBody>
      </p:sp>
      <p:sp>
        <p:nvSpPr>
          <p:cNvPr id="30" name="Text 28"/>
          <p:cNvSpPr txBox="1"/>
          <p:nvPr/>
        </p:nvSpPr>
        <p:spPr>
          <a:xfrm>
            <a:off x="6309360" y="3794760"/>
            <a:ext cx="2331720" cy="6400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8FA3C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Records when each message was sent</a:t>
            </a:r>
            <a:endParaRPr lang="en-US" sz="1300" dirty="0"/>
          </a:p>
        </p:txBody>
      </p:sp>
      <p:sp>
        <p:nvSpPr>
          <p:cNvPr id="31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28600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rgbClr val="8FA3C7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type="title" idx="101" hasCustomPrompt="1"/>
          </p:nvPr>
        </p:nvSpPr>
        <p:spPr>
          <a:xfrm>
            <a:off x="411480" y="228600"/>
            <a:ext cx="603504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System Architecture and Working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11480" y="914400"/>
            <a:ext cx="2377440" cy="594360"/>
          </a:xfrm>
          <a:prstGeom prst="roundRect">
            <a:avLst>
              <a:gd name="adj" fmla="val 12308"/>
            </a:avLst>
          </a:prstGeom>
          <a:solidFill>
            <a:srgbClr val="05080F"/>
          </a:solidFill>
          <a:ln w="19050">
            <a:solidFill>
              <a:srgbClr val="3DDC84"/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069848"/>
            <a:ext cx="274320" cy="27432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14400" y="914400"/>
            <a:ext cx="182880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DDC8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User A Terminal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1600200" y="1508760"/>
            <a:ext cx="0" cy="320040"/>
          </a:xfrm>
          <a:prstGeom prst="line">
            <a:avLst/>
          </a:prstGeom>
          <a:noFill/>
          <a:ln w="25400">
            <a:solidFill>
              <a:srgbClr val="9CC3FF"/>
            </a:solidFill>
            <a:prstDash val="solid"/>
            <a:tailEnd type="triangle"/>
          </a:ln>
        </p:spPr>
      </p:sp>
      <p:sp>
        <p:nvSpPr>
          <p:cNvPr id="7" name="Shape 4"/>
          <p:cNvSpPr/>
          <p:nvPr/>
        </p:nvSpPr>
        <p:spPr>
          <a:xfrm>
            <a:off x="411480" y="1828800"/>
            <a:ext cx="2377440" cy="1188720"/>
          </a:xfrm>
          <a:prstGeom prst="roundRect">
            <a:avLst>
              <a:gd name="adj" fmla="val 6154"/>
            </a:avLst>
          </a:prstGeom>
          <a:solidFill>
            <a:srgbClr val="16275A"/>
          </a:solidFill>
          <a:ln w="19050">
            <a:solidFill>
              <a:srgbClr val="2F7BFF"/>
            </a:solidFill>
            <a:prstDash val="solid"/>
          </a:ln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1208" y="1920240"/>
            <a:ext cx="256032" cy="256032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868680" y="1892808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Process A</a:t>
            </a:r>
            <a:endParaRPr lang="en-US" sz="1400" dirty="0"/>
          </a:p>
        </p:txBody>
      </p:sp>
      <p:sp>
        <p:nvSpPr>
          <p:cNvPr id="10" name="Text 6"/>
          <p:cNvSpPr txBox="1"/>
          <p:nvPr/>
        </p:nvSpPr>
        <p:spPr>
          <a:xfrm>
            <a:off x="548640" y="2286000"/>
            <a:ext cx="2148840" cy="6858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200" dirty="0">
                <a:solidFill>
                  <a:srgbClr val="9CC3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Parent: sends messages</a:t>
            </a:r>
            <a:endParaRPr lang="en-US" sz="12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200" dirty="0">
                <a:solidFill>
                  <a:srgbClr val="9CC3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Child (fork): receives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6355080" y="914400"/>
            <a:ext cx="2377440" cy="594360"/>
          </a:xfrm>
          <a:prstGeom prst="roundRect">
            <a:avLst>
              <a:gd name="adj" fmla="val 12308"/>
            </a:avLst>
          </a:prstGeom>
          <a:solidFill>
            <a:srgbClr val="05080F"/>
          </a:solidFill>
          <a:ln w="19050">
            <a:solidFill>
              <a:srgbClr val="3DDC84"/>
            </a:solidFill>
            <a:prstDash val="solid"/>
          </a:ln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0" y="1069848"/>
            <a:ext cx="274320" cy="27432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6858000" y="914400"/>
            <a:ext cx="182880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DDC8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User B Terminal</a:t>
            </a:r>
            <a:endParaRPr lang="en-US" sz="1400" dirty="0"/>
          </a:p>
        </p:txBody>
      </p:sp>
      <p:sp>
        <p:nvSpPr>
          <p:cNvPr id="14" name="Shape 9"/>
          <p:cNvSpPr/>
          <p:nvPr/>
        </p:nvSpPr>
        <p:spPr>
          <a:xfrm>
            <a:off x="7543800" y="1508760"/>
            <a:ext cx="0" cy="320040"/>
          </a:xfrm>
          <a:prstGeom prst="line">
            <a:avLst/>
          </a:prstGeom>
          <a:noFill/>
          <a:ln w="25400">
            <a:solidFill>
              <a:srgbClr val="9CC3FF"/>
            </a:solidFill>
            <a:prstDash val="solid"/>
            <a:tailEnd type="triangle"/>
          </a:ln>
        </p:spPr>
      </p:sp>
      <p:sp>
        <p:nvSpPr>
          <p:cNvPr id="15" name="Shape 10"/>
          <p:cNvSpPr/>
          <p:nvPr/>
        </p:nvSpPr>
        <p:spPr>
          <a:xfrm>
            <a:off x="6355080" y="1828800"/>
            <a:ext cx="2377440" cy="1188720"/>
          </a:xfrm>
          <a:prstGeom prst="roundRect">
            <a:avLst>
              <a:gd name="adj" fmla="val 6154"/>
            </a:avLst>
          </a:prstGeom>
          <a:solidFill>
            <a:srgbClr val="16275A"/>
          </a:solidFill>
          <a:ln w="19050">
            <a:solidFill>
              <a:srgbClr val="2F7BFF"/>
            </a:solidFill>
            <a:prstDash val="solid"/>
          </a:ln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64808" y="1920240"/>
            <a:ext cx="256032" cy="256032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6812280" y="1892808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Process B</a:t>
            </a:r>
            <a:endParaRPr lang="en-US" sz="1400" dirty="0"/>
          </a:p>
        </p:txBody>
      </p:sp>
      <p:sp>
        <p:nvSpPr>
          <p:cNvPr id="18" name="Text 12"/>
          <p:cNvSpPr txBox="1"/>
          <p:nvPr/>
        </p:nvSpPr>
        <p:spPr>
          <a:xfrm>
            <a:off x="6492240" y="2286000"/>
            <a:ext cx="2148840" cy="6858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200" dirty="0">
                <a:solidFill>
                  <a:srgbClr val="9CC3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Parent: sends messages</a:t>
            </a:r>
            <a:endParaRPr lang="en-US" sz="12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200" dirty="0">
                <a:solidFill>
                  <a:srgbClr val="9CC3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Child (fork): receives</a:t>
            </a:r>
            <a:endParaRPr lang="en-US" sz="1200" dirty="0"/>
          </a:p>
        </p:txBody>
      </p:sp>
      <p:sp>
        <p:nvSpPr>
          <p:cNvPr id="19" name="Shape 13"/>
          <p:cNvSpPr/>
          <p:nvPr/>
        </p:nvSpPr>
        <p:spPr>
          <a:xfrm>
            <a:off x="2788920" y="2103120"/>
            <a:ext cx="3566160" cy="0"/>
          </a:xfrm>
          <a:prstGeom prst="line">
            <a:avLst/>
          </a:prstGeom>
          <a:noFill/>
          <a:ln w="25400">
            <a:solidFill>
              <a:srgbClr val="9CC3FF"/>
            </a:solidFill>
            <a:prstDash val="solid"/>
            <a:tailEnd type="triangle"/>
          </a:ln>
        </p:spPr>
      </p:sp>
      <p:sp>
        <p:nvSpPr>
          <p:cNvPr id="20" name="Shape 14"/>
          <p:cNvSpPr/>
          <p:nvPr/>
        </p:nvSpPr>
        <p:spPr>
          <a:xfrm flipH="1">
            <a:off x="2788920" y="2743200"/>
            <a:ext cx="3566160" cy="0"/>
          </a:xfrm>
          <a:prstGeom prst="line">
            <a:avLst/>
          </a:prstGeom>
          <a:noFill/>
          <a:ln w="25400">
            <a:solidFill>
              <a:srgbClr val="9CC3FF"/>
            </a:solidFill>
            <a:prstDash val="solid"/>
            <a:tailEnd type="triangle"/>
          </a:ln>
        </p:spPr>
      </p:sp>
      <p:sp>
        <p:nvSpPr>
          <p:cNvPr id="21" name="Shape 15"/>
          <p:cNvSpPr/>
          <p:nvPr/>
        </p:nvSpPr>
        <p:spPr>
          <a:xfrm>
            <a:off x="3749040" y="1920240"/>
            <a:ext cx="1645920" cy="365760"/>
          </a:xfrm>
          <a:prstGeom prst="roundRect">
            <a:avLst>
              <a:gd name="adj" fmla="val 20000"/>
            </a:avLst>
          </a:prstGeom>
          <a:solidFill>
            <a:srgbClr val="2F7BFF"/>
          </a:solidFill>
          <a:ln w="12700">
            <a:solidFill>
              <a:srgbClr val="2F7BFF"/>
            </a:solidFill>
            <a:prstDash val="solid"/>
          </a:ln>
        </p:spPr>
      </p:sp>
      <p:sp>
        <p:nvSpPr>
          <p:cNvPr id="22" name="Text 16"/>
          <p:cNvSpPr txBox="1"/>
          <p:nvPr/>
        </p:nvSpPr>
        <p:spPr>
          <a:xfrm>
            <a:off x="3749040" y="1920240"/>
            <a:ext cx="16459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FIFO A → B</a:t>
            </a:r>
            <a:endParaRPr lang="en-US" sz="1200" dirty="0"/>
          </a:p>
        </p:txBody>
      </p:sp>
      <p:sp>
        <p:nvSpPr>
          <p:cNvPr id="23" name="Shape 17"/>
          <p:cNvSpPr/>
          <p:nvPr/>
        </p:nvSpPr>
        <p:spPr>
          <a:xfrm>
            <a:off x="3749040" y="2560320"/>
            <a:ext cx="1645920" cy="365760"/>
          </a:xfrm>
          <a:prstGeom prst="roundRect">
            <a:avLst>
              <a:gd name="adj" fmla="val 20000"/>
            </a:avLst>
          </a:prstGeom>
          <a:solidFill>
            <a:srgbClr val="2F7BFF"/>
          </a:solidFill>
          <a:ln w="12700">
            <a:solidFill>
              <a:srgbClr val="2F7BFF"/>
            </a:solidFill>
            <a:prstDash val="solid"/>
          </a:ln>
        </p:spPr>
      </p:sp>
      <p:sp>
        <p:nvSpPr>
          <p:cNvPr id="24" name="Text 18"/>
          <p:cNvSpPr txBox="1"/>
          <p:nvPr/>
        </p:nvSpPr>
        <p:spPr>
          <a:xfrm>
            <a:off x="3749040" y="2560320"/>
            <a:ext cx="16459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FIFO B → A</a:t>
            </a:r>
            <a:endParaRPr lang="en-US" sz="1200" dirty="0"/>
          </a:p>
        </p:txBody>
      </p:sp>
      <p:sp>
        <p:nvSpPr>
          <p:cNvPr id="25" name="Shape 19"/>
          <p:cNvSpPr/>
          <p:nvPr/>
        </p:nvSpPr>
        <p:spPr>
          <a:xfrm>
            <a:off x="3291840" y="3611880"/>
            <a:ext cx="2560320" cy="548640"/>
          </a:xfrm>
          <a:prstGeom prst="roundRect">
            <a:avLst>
              <a:gd name="adj" fmla="val 13333"/>
            </a:avLst>
          </a:prstGeom>
          <a:solidFill>
            <a:srgbClr val="05080F"/>
          </a:solidFill>
          <a:ln w="19050">
            <a:solidFill>
              <a:srgbClr val="3DDC84"/>
            </a:solidFill>
            <a:prstDash val="solid"/>
          </a:ln>
        </p:spPr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9000" y="3749040"/>
            <a:ext cx="274320" cy="274320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3794760" y="3611880"/>
            <a:ext cx="201168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DDC8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chat_history.txt</a:t>
            </a:r>
            <a:endParaRPr lang="en-US" sz="1300" dirty="0"/>
          </a:p>
        </p:txBody>
      </p:sp>
      <p:sp>
        <p:nvSpPr>
          <p:cNvPr id="28" name="Shape 21"/>
          <p:cNvSpPr/>
          <p:nvPr/>
        </p:nvSpPr>
        <p:spPr>
          <a:xfrm>
            <a:off x="1600200" y="3017520"/>
            <a:ext cx="1691640" cy="594360"/>
          </a:xfrm>
          <a:prstGeom prst="line">
            <a:avLst/>
          </a:prstGeom>
          <a:noFill/>
          <a:ln w="25400">
            <a:solidFill>
              <a:srgbClr val="9CC3FF"/>
            </a:solidFill>
            <a:prstDash val="solid"/>
            <a:tailEnd type="triangle"/>
          </a:ln>
        </p:spPr>
      </p:sp>
      <p:sp>
        <p:nvSpPr>
          <p:cNvPr id="29" name="Shape 22"/>
          <p:cNvSpPr/>
          <p:nvPr/>
        </p:nvSpPr>
        <p:spPr>
          <a:xfrm flipH="1">
            <a:off x="5852160" y="3017520"/>
            <a:ext cx="1691640" cy="594360"/>
          </a:xfrm>
          <a:prstGeom prst="line">
            <a:avLst/>
          </a:prstGeom>
          <a:noFill/>
          <a:ln w="25400">
            <a:solidFill>
              <a:srgbClr val="9CC3FF"/>
            </a:solidFill>
            <a:prstDash val="solid"/>
            <a:tailEnd type="triangle"/>
          </a:ln>
        </p:spPr>
      </p:sp>
      <p:sp>
        <p:nvSpPr>
          <p:cNvPr id="30" name="Text 23"/>
          <p:cNvSpPr txBox="1"/>
          <p:nvPr/>
        </p:nvSpPr>
        <p:spPr>
          <a:xfrm>
            <a:off x="411480" y="3429000"/>
            <a:ext cx="1828800" cy="4114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8FA3C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append message + timestamp (history.h)</a:t>
            </a:r>
            <a:endParaRPr lang="en-US" sz="1000" dirty="0"/>
          </a:p>
        </p:txBody>
      </p:sp>
      <p:sp>
        <p:nvSpPr>
          <p:cNvPr id="31" name="Shape 24"/>
          <p:cNvSpPr/>
          <p:nvPr/>
        </p:nvSpPr>
        <p:spPr>
          <a:xfrm>
            <a:off x="3291840" y="4389120"/>
            <a:ext cx="2560320" cy="457200"/>
          </a:xfrm>
          <a:prstGeom prst="roundRect">
            <a:avLst>
              <a:gd name="adj" fmla="val 16000"/>
            </a:avLst>
          </a:prstGeom>
          <a:solidFill>
            <a:srgbClr val="0D1530"/>
          </a:solidFill>
          <a:ln w="12700">
            <a:solidFill>
              <a:srgbClr val="9CC3FF"/>
            </a:solidFill>
            <a:prstDash val="solid"/>
          </a:ln>
        </p:spPr>
      </p:sp>
      <p:pic>
        <p:nvPicPr>
          <p:cNvPr id="32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4498848"/>
            <a:ext cx="237744" cy="237744"/>
          </a:xfrm>
          <a:prstGeom prst="rect">
            <a:avLst/>
          </a:prstGeom>
        </p:spPr>
      </p:pic>
      <p:sp>
        <p:nvSpPr>
          <p:cNvPr id="33" name="Text 25"/>
          <p:cNvSpPr txBox="1"/>
          <p:nvPr/>
        </p:nvSpPr>
        <p:spPr>
          <a:xfrm>
            <a:off x="3749040" y="4389120"/>
            <a:ext cx="21031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CC3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history_viewer.c</a:t>
            </a:r>
            <a:endParaRPr lang="en-US" sz="1300" dirty="0"/>
          </a:p>
        </p:txBody>
      </p:sp>
      <p:sp>
        <p:nvSpPr>
          <p:cNvPr id="34" name="Shape 26"/>
          <p:cNvSpPr/>
          <p:nvPr/>
        </p:nvSpPr>
        <p:spPr>
          <a:xfrm>
            <a:off x="4572000" y="4160520"/>
            <a:ext cx="0" cy="228600"/>
          </a:xfrm>
          <a:prstGeom prst="line">
            <a:avLst/>
          </a:prstGeom>
          <a:noFill/>
          <a:ln w="25400">
            <a:solidFill>
              <a:srgbClr val="9CC3FF"/>
            </a:solidFill>
            <a:prstDash val="solid"/>
            <a:tailEnd type="triangle"/>
          </a:ln>
        </p:spPr>
      </p:sp>
      <p:sp>
        <p:nvSpPr>
          <p:cNvPr id="35" name="Text 27"/>
          <p:cNvSpPr txBox="1"/>
          <p:nvPr/>
        </p:nvSpPr>
        <p:spPr>
          <a:xfrm>
            <a:off x="4709160" y="4178808"/>
            <a:ext cx="1188720" cy="20116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8FA3C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reads history</a:t>
            </a:r>
            <a:endParaRPr lang="en-US" sz="1000" dirty="0"/>
          </a:p>
        </p:txBody>
      </p:sp>
      <p:sp>
        <p:nvSpPr>
          <p:cNvPr id="36" name="Text 28"/>
          <p:cNvSpPr txBox="1"/>
          <p:nvPr/>
        </p:nvSpPr>
        <p:spPr>
          <a:xfrm>
            <a:off x="6400800" y="3749040"/>
            <a:ext cx="2286000" cy="4114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dirty="0">
                <a:solidFill>
                  <a:srgbClr val="8FA3C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Both users' messages are logged</a:t>
            </a:r>
            <a:endParaRPr lang="en-US" sz="1000" dirty="0"/>
          </a:p>
        </p:txBody>
      </p:sp>
      <p:sp>
        <p:nvSpPr>
          <p:cNvPr id="3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28600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rgbClr val="8FA3C7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type="title" idx="101" hasCustomPrompt="1"/>
          </p:nvPr>
        </p:nvSpPr>
        <p:spPr>
          <a:xfrm>
            <a:off x="411480" y="228600"/>
            <a:ext cx="603504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Implementation and Algorithm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3749040" cy="3657600"/>
          </a:xfrm>
          <a:prstGeom prst="roundRect">
            <a:avLst>
              <a:gd name="adj" fmla="val 2000"/>
            </a:avLst>
          </a:prstGeom>
          <a:solidFill>
            <a:srgbClr val="111B3A"/>
          </a:solidFill>
          <a:ln w="12700">
            <a:solidFill>
              <a:srgbClr val="1E2E5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188720"/>
            <a:ext cx="329184" cy="329184"/>
          </a:xfrm>
          <a:prstGeom prst="ellipse">
            <a:avLst/>
          </a:prstGeom>
          <a:solidFill>
            <a:srgbClr val="2F7BFF"/>
          </a:solidFill>
        </p:spPr>
      </p:sp>
      <p:sp>
        <p:nvSpPr>
          <p:cNvPr id="5" name="Text 3"/>
          <p:cNvSpPr txBox="1"/>
          <p:nvPr/>
        </p:nvSpPr>
        <p:spPr>
          <a:xfrm>
            <a:off x="640080" y="1188720"/>
            <a:ext cx="329184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097280" y="1170432"/>
            <a:ext cx="301752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8EEF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Create or open the named FIFOs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1737360"/>
            <a:ext cx="329184" cy="329184"/>
          </a:xfrm>
          <a:prstGeom prst="ellipse">
            <a:avLst/>
          </a:prstGeom>
          <a:solidFill>
            <a:srgbClr val="2F7BFF"/>
          </a:solidFill>
        </p:spPr>
      </p:sp>
      <p:sp>
        <p:nvSpPr>
          <p:cNvPr id="8" name="Text 6"/>
          <p:cNvSpPr txBox="1"/>
          <p:nvPr/>
        </p:nvSpPr>
        <p:spPr>
          <a:xfrm>
            <a:off x="640080" y="1737360"/>
            <a:ext cx="329184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1097280" y="1719072"/>
            <a:ext cx="301752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8EEF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Create a child process with fork()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40080" y="2286000"/>
            <a:ext cx="329184" cy="329184"/>
          </a:xfrm>
          <a:prstGeom prst="ellipse">
            <a:avLst/>
          </a:prstGeom>
          <a:solidFill>
            <a:srgbClr val="2F7BFF"/>
          </a:solidFill>
        </p:spPr>
      </p:sp>
      <p:sp>
        <p:nvSpPr>
          <p:cNvPr id="11" name="Text 9"/>
          <p:cNvSpPr txBox="1"/>
          <p:nvPr/>
        </p:nvSpPr>
        <p:spPr>
          <a:xfrm>
            <a:off x="640080" y="2286000"/>
            <a:ext cx="329184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1097280" y="2267712"/>
            <a:ext cx="301752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8EEF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Parent sends, child receives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40080" y="2834640"/>
            <a:ext cx="329184" cy="329184"/>
          </a:xfrm>
          <a:prstGeom prst="ellipse">
            <a:avLst/>
          </a:prstGeom>
          <a:solidFill>
            <a:srgbClr val="2F7BFF"/>
          </a:solidFill>
        </p:spPr>
      </p:sp>
      <p:sp>
        <p:nvSpPr>
          <p:cNvPr id="14" name="Text 12"/>
          <p:cNvSpPr txBox="1"/>
          <p:nvPr/>
        </p:nvSpPr>
        <p:spPr>
          <a:xfrm>
            <a:off x="640080" y="2834640"/>
            <a:ext cx="329184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1097280" y="2816352"/>
            <a:ext cx="301752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8EEF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Write messages through the right FIFO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40080" y="3383280"/>
            <a:ext cx="329184" cy="329184"/>
          </a:xfrm>
          <a:prstGeom prst="ellipse">
            <a:avLst/>
          </a:prstGeom>
          <a:solidFill>
            <a:srgbClr val="2F7BFF"/>
          </a:solidFill>
        </p:spPr>
      </p:sp>
      <p:sp>
        <p:nvSpPr>
          <p:cNvPr id="17" name="Text 15"/>
          <p:cNvSpPr txBox="1"/>
          <p:nvPr/>
        </p:nvSpPr>
        <p:spPr>
          <a:xfrm>
            <a:off x="640080" y="3383280"/>
            <a:ext cx="329184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1097280" y="3364992"/>
            <a:ext cx="301752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8EEF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Save messages with timestamps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40080" y="3931920"/>
            <a:ext cx="329184" cy="329184"/>
          </a:xfrm>
          <a:prstGeom prst="ellipse">
            <a:avLst/>
          </a:prstGeom>
          <a:solidFill>
            <a:srgbClr val="2F7BFF"/>
          </a:solidFill>
        </p:spPr>
      </p:sp>
      <p:sp>
        <p:nvSpPr>
          <p:cNvPr id="20" name="Text 18"/>
          <p:cNvSpPr txBox="1"/>
          <p:nvPr/>
        </p:nvSpPr>
        <p:spPr>
          <a:xfrm>
            <a:off x="640080" y="3931920"/>
            <a:ext cx="329184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1097280" y="3913632"/>
            <a:ext cx="301752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8EEF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Stop when /exit is entered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434840" y="1005840"/>
            <a:ext cx="4251960" cy="3657600"/>
          </a:xfrm>
          <a:prstGeom prst="roundRect">
            <a:avLst>
              <a:gd name="adj" fmla="val 2000"/>
            </a:avLst>
          </a:prstGeom>
          <a:solidFill>
            <a:srgbClr val="05080F"/>
          </a:solidFill>
          <a:ln w="12700">
            <a:solidFill>
              <a:srgbClr val="1E2E5E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4617720" y="1097280"/>
            <a:ext cx="3931920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i="1" dirty="0">
                <a:solidFill>
                  <a:srgbClr val="8FA3C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Simplified snippets (illustrative)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4617720" y="1417320"/>
            <a:ext cx="3931920" cy="3200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8FA3C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// FIFO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DDC8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mkfifo("fifo_a_to_b", 0666);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DDC8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8FA3C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// fork: child receives, parent sends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DDC8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pid_t pid = fork();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DDC8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if (pid == 0) { /* receive loop */ }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DDC8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else          { /* send loop */ }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DDC8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8FA3C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// write to FIFO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DDC8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write(fd, msg, strlen(msg) + 1);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DDC8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8FA3C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// save to history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DDC8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FILE *f = fopen("chat_history.txt", "a");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DDC8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fprintf(f, "[%s] %s\n", time_str, msg);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28600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rgbClr val="8FA3C7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type="title" idx="101" hasCustomPrompt="1"/>
          </p:nvPr>
        </p:nvSpPr>
        <p:spPr>
          <a:xfrm>
            <a:off x="411480" y="228600"/>
            <a:ext cx="603504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Output and Testing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537960" y="274320"/>
            <a:ext cx="2240280" cy="365760"/>
          </a:xfrm>
          <a:prstGeom prst="roundRect">
            <a:avLst>
              <a:gd name="adj" fmla="val 20000"/>
            </a:avLst>
          </a:prstGeom>
          <a:solidFill>
            <a:srgbClr val="3A2E00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537960" y="274320"/>
            <a:ext cx="22402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C85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Illustrative mockups, not real screenshots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11480" y="914400"/>
            <a:ext cx="2880360" cy="1783080"/>
          </a:xfrm>
          <a:prstGeom prst="roundRect">
            <a:avLst>
              <a:gd name="adj" fmla="val 4103"/>
            </a:avLst>
          </a:prstGeom>
          <a:solidFill>
            <a:srgbClr val="05080F"/>
          </a:solidFill>
          <a:ln w="12700">
            <a:solidFill>
              <a:srgbClr val="1E2E5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21208" y="987552"/>
            <a:ext cx="2697480" cy="228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8FA3C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User A terminal (example)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521208" y="1261872"/>
            <a:ext cx="2697480" cy="1371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3DDC8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You: Hello B!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DDC8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B: Hi A, got it.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DDC8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You: Testing FIFO chat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DDC8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B: Works well.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DDC8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You: /exit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429000" y="914400"/>
            <a:ext cx="2880360" cy="1783080"/>
          </a:xfrm>
          <a:prstGeom prst="roundRect">
            <a:avLst>
              <a:gd name="adj" fmla="val 4103"/>
            </a:avLst>
          </a:prstGeom>
          <a:solidFill>
            <a:srgbClr val="05080F"/>
          </a:solidFill>
          <a:ln w="12700">
            <a:solidFill>
              <a:srgbClr val="1E2E5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538728" y="987552"/>
            <a:ext cx="2697480" cy="228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8FA3C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User B terminal (example)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3538728" y="1261872"/>
            <a:ext cx="2697480" cy="1371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3DDC8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A: Hello B!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DDC8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You: Hi A, got it.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DDC8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A: Testing FIFO chat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DDC8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You: Works well.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DDC8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[A ended the chat]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11480" y="2776855"/>
            <a:ext cx="4975860" cy="2023745"/>
          </a:xfrm>
          <a:prstGeom prst="roundRect">
            <a:avLst>
              <a:gd name="adj" fmla="val 3721"/>
            </a:avLst>
          </a:prstGeom>
          <a:solidFill>
            <a:srgbClr val="05080F"/>
          </a:solidFill>
          <a:ln w="12700">
            <a:solidFill>
              <a:srgbClr val="1E2E5E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21208" y="2907792"/>
            <a:ext cx="5715000" cy="228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8FA3C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./history_viewer (example)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521208" y="3182112"/>
            <a:ext cx="5715000" cy="15544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3DDC8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[10:15:02] User A: Hello B!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DDC8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[10:15:09] User B: Hi A, got it.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DDC8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[10:15:20] User A: Testing FIFO chat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DDC8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[10:15:31] User B: Works well.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DDC8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--- Total messages: 4 ---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537960" y="777240"/>
            <a:ext cx="2240280" cy="1553845"/>
          </a:xfrm>
          <a:prstGeom prst="roundRect">
            <a:avLst>
              <a:gd name="adj" fmla="val 3478"/>
            </a:avLst>
          </a:prstGeom>
          <a:solidFill>
            <a:srgbClr val="111B3A"/>
          </a:solidFill>
          <a:ln w="12700">
            <a:solidFill>
              <a:srgbClr val="1E2E5E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675120" y="868680"/>
            <a:ext cx="2011680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3DDC8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Tests performed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6675120" y="1188720"/>
            <a:ext cx="2057400" cy="122618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8EEF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Message transmission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8EEF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History recording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8EEF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History viewer run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8EEF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/exit termination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386705" y="2776855"/>
            <a:ext cx="3648075" cy="2232025"/>
          </a:xfrm>
          <a:prstGeom prst="roundRect">
            <a:avLst>
              <a:gd name="adj" fmla="val 4103"/>
            </a:avLst>
          </a:prstGeom>
          <a:solidFill>
            <a:srgbClr val="0D1530"/>
          </a:solidFill>
          <a:ln w="12700">
            <a:solidFill>
              <a:srgbClr val="9CC3FF"/>
            </a:solidFill>
            <a:prstDash val="dash"/>
          </a:ln>
        </p:spPr>
      </p:sp>
      <p:sp>
        <p:nvSpPr>
          <p:cNvPr id="18" name="Text 16"/>
          <p:cNvSpPr txBox="1"/>
          <p:nvPr/>
        </p:nvSpPr>
        <p:spPr>
          <a:xfrm>
            <a:off x="6335395" y="3364865"/>
            <a:ext cx="1443355" cy="1371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CC3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[ Insert real screenshots here ]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28600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rgbClr val="8FA3C7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</a:fld>
            <a:endParaRPr lang="en-US"/>
          </a:p>
        </p:txBody>
      </p:sp>
      <p:pic>
        <p:nvPicPr>
          <p:cNvPr id="19" name="Picture 1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51805" y="2907665"/>
            <a:ext cx="3317875" cy="202438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type="title" idx="101" hasCustomPrompt="1"/>
          </p:nvPr>
        </p:nvSpPr>
        <p:spPr>
          <a:xfrm>
            <a:off x="411480" y="228600"/>
            <a:ext cx="603504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Results, Conclusion and Future Scope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2651760" cy="2834640"/>
          </a:xfrm>
          <a:prstGeom prst="roundRect">
            <a:avLst>
              <a:gd name="adj" fmla="val 2759"/>
            </a:avLst>
          </a:prstGeom>
          <a:solidFill>
            <a:srgbClr val="111B3A"/>
          </a:solidFill>
          <a:ln w="19050">
            <a:solidFill>
              <a:srgbClr val="3DDC84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143000"/>
            <a:ext cx="2286000" cy="3200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3DDC8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Results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554480"/>
            <a:ext cx="2286000" cy="20116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8EEF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Terminal-based IPC chat works between two users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8EEF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Messages saved with timestamps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8EEF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History viewer shows saved chat and basic statistics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8EEF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/exit ends the chat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246120" y="1005840"/>
            <a:ext cx="2651760" cy="2834640"/>
          </a:xfrm>
          <a:prstGeom prst="roundRect">
            <a:avLst>
              <a:gd name="adj" fmla="val 2759"/>
            </a:avLst>
          </a:prstGeom>
          <a:solidFill>
            <a:srgbClr val="111B3A"/>
          </a:solidFill>
          <a:ln w="19050">
            <a:solidFill>
              <a:srgbClr val="2F7BF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429000" y="1143000"/>
            <a:ext cx="2286000" cy="3200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2F7B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Concepts Shown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3429000" y="1554480"/>
            <a:ext cx="2286000" cy="20116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8EEF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Process creation with fork()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8EEF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Synchronization via blocking FIFO read/write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8EEF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FIFO communication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8EEF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File handling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035040" y="1005840"/>
            <a:ext cx="2651760" cy="2834640"/>
          </a:xfrm>
          <a:prstGeom prst="roundRect">
            <a:avLst>
              <a:gd name="adj" fmla="val 2759"/>
            </a:avLst>
          </a:prstGeom>
          <a:solidFill>
            <a:srgbClr val="111B3A"/>
          </a:solidFill>
          <a:ln w="19050">
            <a:solidFill>
              <a:srgbClr val="FFC857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217920" y="1143000"/>
            <a:ext cx="2286000" cy="3200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FFC85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Future Scope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6217920" y="1463040"/>
            <a:ext cx="2286000" cy="20116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i="1" dirty="0">
                <a:solidFill>
                  <a:srgbClr val="8FA3C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Not implemented yet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6217920" y="1737360"/>
            <a:ext cx="2286000" cy="20116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8EEF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Multi-user chat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8EEF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Improved error handling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8EEF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Graphical interface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4023360"/>
            <a:ext cx="8229600" cy="777240"/>
          </a:xfrm>
          <a:prstGeom prst="roundRect">
            <a:avLst>
              <a:gd name="adj" fmla="val 9412"/>
            </a:avLst>
          </a:prstGeom>
          <a:solidFill>
            <a:srgbClr val="05080F"/>
          </a:solidFill>
          <a:ln w="12700">
            <a:solidFill>
              <a:srgbClr val="3DDC84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57200" y="4023360"/>
            <a:ext cx="4114800" cy="777240"/>
          </a:xfrm>
          <a:prstGeom prst="rect">
            <a:avLst/>
          </a:prstGeom>
          <a:noFill/>
        </p:spPr>
        <p:txBody>
          <a:bodyPr wrap="square" lIns="0" tIns="381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                                  Thank You</a:t>
            </a:r>
            <a:endParaRPr lang="en-US" sz="2600" dirty="0"/>
          </a:p>
        </p:txBody>
      </p:sp>
      <p:sp>
        <p:nvSpPr>
          <p:cNvPr id="15" name="Text 13"/>
          <p:cNvSpPr txBox="1"/>
          <p:nvPr/>
        </p:nvSpPr>
        <p:spPr>
          <a:xfrm>
            <a:off x="4572000" y="4023360"/>
            <a:ext cx="4114800" cy="777240"/>
          </a:xfrm>
          <a:prstGeom prst="rect">
            <a:avLst/>
          </a:prstGeom>
          <a:noFill/>
        </p:spPr>
        <p:txBody>
          <a:bodyPr wrap="square" lIns="0" tIns="0" rIns="3810" bIns="0" rtlCol="0" anchor="ctr"/>
          <a:lstStyle/>
          <a:p>
            <a:pPr marL="0" indent="0" algn="r">
              <a:buNone/>
            </a:pPr>
            <a:r>
              <a:rPr lang="en-US" sz="2200" dirty="0">
                <a:solidFill>
                  <a:srgbClr val="3DDC8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_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28600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rgbClr val="8FA3C7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rminal Navy">
  <a:themeElements>
    <a:clrScheme name="Terminal Navy">
      <a:dk1>
        <a:srgbClr val="05080F"/>
      </a:dk1>
      <a:lt1>
        <a:srgbClr val="FFFFFF"/>
      </a:lt1>
      <a:dk2>
        <a:srgbClr val="0A1128"/>
      </a:dk2>
      <a:lt2>
        <a:srgbClr val="E8EEF9"/>
      </a:lt2>
      <a:accent1>
        <a:srgbClr val="2F7BFF"/>
      </a:accent1>
      <a:accent2>
        <a:srgbClr val="3DDC84"/>
      </a:accent2>
      <a:accent3>
        <a:srgbClr val="9CC3FF"/>
      </a:accent3>
      <a:accent4>
        <a:srgbClr val="111B3A"/>
      </a:accent4>
      <a:accent5>
        <a:srgbClr val="8FA3C7"/>
      </a:accent5>
      <a:accent6>
        <a:srgbClr val="1B2A55"/>
      </a:accent6>
      <a:hlink>
        <a:srgbClr val="9CC3FF"/>
      </a:hlink>
      <a:folHlink>
        <a:srgbClr val="8FA3C7"/>
      </a:folHlink>
    </a:clrScheme>
    <a:fontScheme name="Terminal Navy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rminal Navy">
  <a:themeElements>
    <a:clrScheme name="Terminal Navy">
      <a:dk1>
        <a:srgbClr val="05080F"/>
      </a:dk1>
      <a:lt1>
        <a:srgbClr val="FFFFFF"/>
      </a:lt1>
      <a:dk2>
        <a:srgbClr val="0A1128"/>
      </a:dk2>
      <a:lt2>
        <a:srgbClr val="E8EEF9"/>
      </a:lt2>
      <a:accent1>
        <a:srgbClr val="2F7BFF"/>
      </a:accent1>
      <a:accent2>
        <a:srgbClr val="3DDC84"/>
      </a:accent2>
      <a:accent3>
        <a:srgbClr val="9CC3FF"/>
      </a:accent3>
      <a:accent4>
        <a:srgbClr val="111B3A"/>
      </a:accent4>
      <a:accent5>
        <a:srgbClr val="8FA3C7"/>
      </a:accent5>
      <a:accent6>
        <a:srgbClr val="1B2A55"/>
      </a:accent6>
      <a:hlink>
        <a:srgbClr val="9CC3FF"/>
      </a:hlink>
      <a:folHlink>
        <a:srgbClr val="8FA3C7"/>
      </a:folHlink>
    </a:clrScheme>
    <a:fontScheme name="Terminal Navy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2734</Words>
  <Application>WPS Presentation</Application>
  <PresentationFormat>On-screen Show (16:9)</PresentationFormat>
  <Paragraphs>215</Paragraphs>
  <Slides>7</Slides>
  <Notes>7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21" baseType="lpstr">
      <vt:lpstr>Arial</vt:lpstr>
      <vt:lpstr>SimSun</vt:lpstr>
      <vt:lpstr>Wingdings</vt:lpstr>
      <vt:lpstr>Calibri</vt:lpstr>
      <vt:lpstr>Calibri</vt:lpstr>
      <vt:lpstr>Calibri</vt:lpstr>
      <vt:lpstr>Consolas</vt:lpstr>
      <vt:lpstr>Consolas</vt:lpstr>
      <vt:lpstr>Consolas</vt:lpstr>
      <vt:lpstr>Microsoft YaHei</vt:lpstr>
      <vt:lpstr>Arial Unicode MS</vt:lpstr>
      <vt:lpstr>Calibri</vt:lpstr>
      <vt:lpstr>Times New Roman</vt:lpstr>
      <vt:lpstr>Terminal Navy</vt:lpstr>
      <vt:lpstr>PowerPoint 演示文稿</vt:lpstr>
      <vt:lpstr>Problem Statement and Objectives</vt:lpstr>
      <vt:lpstr>Technologies and Concepts Used</vt:lpstr>
      <vt:lpstr>System Architecture and Working</vt:lpstr>
      <vt:lpstr>Implementation and Algorithm</vt:lpstr>
      <vt:lpstr>Output and Testing</vt:lpstr>
      <vt:lpstr>Results, Conclusion and Future Scope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Inter-Process Chat Application Using IPC</dc:title>
  <dc:creator>PptxGenJS</dc:creator>
  <dc:subject>PptxGenJS Presentation</dc:subject>
  <cp:lastModifiedBy>mahathi</cp:lastModifiedBy>
  <cp:revision>3</cp:revision>
  <dcterms:created xsi:type="dcterms:W3CDTF">2026-10-17T05:19:00Z</dcterms:created>
  <dcterms:modified xsi:type="dcterms:W3CDTF">2026-10-17T05:42:27Z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1033-12.1.0.29162</vt:lpwstr>
  </property>
  <property fmtid="{D5CDD505-2E9C-101B-9397-08002B2CF9AE}" pid="3" name="ICV">
    <vt:lpwstr>21C667F36E9F407391BF46D1CA24AAEF_13</vt:lpwstr>
  </property>
</Properties>
</file>